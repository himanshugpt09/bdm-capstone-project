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8" r:id="rId9"/>
    <p:sldId id="265" r:id="rId10"/>
    <p:sldId id="257" r:id="rId11"/>
  </p:sldIdLst>
  <p:sldSz cx="14630400" cy="8229600"/>
  <p:notesSz cx="8229600" cy="14630400"/>
  <p:embeddedFontLst>
    <p:embeddedFont>
      <p:font typeface="Nunito Semi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9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8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6472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79CA7-53AA-0B29-0E03-9BA1E6399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045CA9-6761-75DA-87EA-749023456A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92A696-267B-C405-0E60-4CDC3F963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C5380-512E-C856-94B5-CF8A331FB1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827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sv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9.svg"/><Relationship Id="rId10" Type="http://schemas.openxmlformats.org/officeDocument/2006/relationships/image" Target="../media/image13.png"/><Relationship Id="rId4" Type="http://schemas.openxmlformats.org/officeDocument/2006/relationships/image" Target="../media/image8.sv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7.svg"/><Relationship Id="rId10" Type="http://schemas.openxmlformats.org/officeDocument/2006/relationships/image" Target="../media/image21.svg"/><Relationship Id="rId4" Type="http://schemas.openxmlformats.org/officeDocument/2006/relationships/image" Target="../media/image16.svg"/><Relationship Id="rId9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1.png"/><Relationship Id="rId5" Type="http://schemas.openxmlformats.org/officeDocument/2006/relationships/image" Target="../media/image14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4.png"/><Relationship Id="rId9" Type="http://schemas.openxmlformats.org/officeDocument/2006/relationships/image" Target="../media/image3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7203647" y="0"/>
            <a:ext cx="7426754" cy="8229600"/>
          </a:xfrm>
          <a:prstGeom prst="rect">
            <a:avLst/>
          </a:prstGeom>
        </p:spPr>
      </p:pic>
      <p:sp>
        <p:nvSpPr>
          <p:cNvPr id="5" name="Subtitle 6">
            <a:extLst>
              <a:ext uri="{FF2B5EF4-FFF2-40B4-BE49-F238E27FC236}">
                <a16:creationId xmlns:a16="http://schemas.microsoft.com/office/drawing/2014/main" id="{7E24F813-89FB-AA46-A594-49D442B1225C}"/>
              </a:ext>
            </a:extLst>
          </p:cNvPr>
          <p:cNvSpPr txBox="1">
            <a:spLocks/>
          </p:cNvSpPr>
          <p:nvPr/>
        </p:nvSpPr>
        <p:spPr>
          <a:xfrm>
            <a:off x="2074985" y="477466"/>
            <a:ext cx="10609383" cy="249820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for the BDM Capstone Project</a:t>
            </a:r>
            <a:endParaRPr lang="en-GB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GB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Data-Driven Strategies for Optimizing Profitability and Operations in a Saree Weaving Business</a:t>
            </a:r>
            <a:endParaRPr lang="en-I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1A10F1-2311-A694-A7C4-842599E59E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316" b="94316" l="9677" r="89813">
                        <a14:foregroundMark x1="55178" y1="12842" x2="38540" y2="10947"/>
                        <a14:foregroundMark x1="38540" y1="10947" x2="38540" y2="10947"/>
                        <a14:foregroundMark x1="38540" y1="10947" x2="16469" y2="27368"/>
                        <a14:foregroundMark x1="16469" y1="27368" x2="10017" y2="46737"/>
                        <a14:foregroundMark x1="10017" y1="46737" x2="16129" y2="73474"/>
                        <a14:foregroundMark x1="16129" y1="73474" x2="31919" y2="90737"/>
                        <a14:foregroundMark x1="31919" y1="90737" x2="54839" y2="93053"/>
                        <a14:foregroundMark x1="54839" y1="93053" x2="77929" y2="82526"/>
                        <a14:foregroundMark x1="77929" y1="82526" x2="88625" y2="65263"/>
                        <a14:foregroundMark x1="88625" y1="65263" x2="86587" y2="33895"/>
                        <a14:foregroundMark x1="86587" y1="33895" x2="75552" y2="18316"/>
                        <a14:foregroundMark x1="75552" y1="18316" x2="60272" y2="10105"/>
                        <a14:foregroundMark x1="60272" y1="10105" x2="46940" y2="7706"/>
                        <a14:foregroundMark x1="57385" y1="14316" x2="73854" y2="24421"/>
                        <a14:foregroundMark x1="73854" y1="24421" x2="83362" y2="36842"/>
                        <a14:foregroundMark x1="83362" y1="36842" x2="85569" y2="58947"/>
                        <a14:foregroundMark x1="85569" y1="58947" x2="77419" y2="76632"/>
                        <a14:foregroundMark x1="77419" y1="76632" x2="61460" y2="90526"/>
                        <a14:foregroundMark x1="61460" y1="90526" x2="47708" y2="94316"/>
                        <a14:foregroundMark x1="47708" y1="94316" x2="61800" y2="19158"/>
                        <a14:foregroundMark x1="61800" y1="19158" x2="47538" y2="39789"/>
                        <a14:foregroundMark x1="47538" y1="39789" x2="44312" y2="52211"/>
                        <a14:foregroundMark x1="44312" y1="52211" x2="54329" y2="32842"/>
                        <a14:foregroundMark x1="54329" y1="32842" x2="47708" y2="34947"/>
                        <a14:foregroundMark x1="47708" y1="34947" x2="47708" y2="34947"/>
                        <a14:foregroundMark x1="47708" y1="34947" x2="40747" y2="50105"/>
                        <a14:foregroundMark x1="40747" y1="50105" x2="64346" y2="57474"/>
                        <a14:foregroundMark x1="64346" y1="57474" x2="69440" y2="57474"/>
                        <a14:foregroundMark x1="45501" y1="57895" x2="33447" y2="57895"/>
                        <a14:foregroundMark x1="25297" y1="82316" x2="41256" y2="89053"/>
                        <a14:backgroundMark x1="41596" y1="6526" x2="37691" y2="6526"/>
                        <a14:backgroundMark x1="37691" y1="6526" x2="44652" y2="6526"/>
                        <a14:backgroundMark x1="44652" y1="6526" x2="44652" y2="6526"/>
                        <a14:backgroundMark x1="44652" y1="6526" x2="44652" y2="6526"/>
                        <a14:backgroundMark x1="44652" y1="6526" x2="47708" y2="61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24367" y="3321934"/>
            <a:ext cx="3781666" cy="30497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321E81-E7DA-1331-C98F-20324CA50ED0}"/>
              </a:ext>
            </a:extLst>
          </p:cNvPr>
          <p:cNvSpPr txBox="1"/>
          <p:nvPr/>
        </p:nvSpPr>
        <p:spPr>
          <a:xfrm>
            <a:off x="3840056" y="6544930"/>
            <a:ext cx="6716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IITM Online BS Degree Program, Indian Institute of Technology, Madras, Chennai Tamil Nadu, India, 600036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816147-8AF9-1393-3A3B-B06012F81494}"/>
              </a:ext>
            </a:extLst>
          </p:cNvPr>
          <p:cNvSpPr txBox="1"/>
          <p:nvPr/>
        </p:nvSpPr>
        <p:spPr>
          <a:xfrm>
            <a:off x="5284536" y="2436034"/>
            <a:ext cx="38382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Submitted By </a:t>
            </a:r>
          </a:p>
          <a:p>
            <a:pPr algn="ctr"/>
            <a:r>
              <a:rPr lang="en-GB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Name: Himanshu Gupta </a:t>
            </a:r>
          </a:p>
          <a:p>
            <a:pPr algn="ctr"/>
            <a:r>
              <a:rPr lang="en-GB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Roll No: 24F1002302</a:t>
            </a:r>
            <a:endParaRPr lang="en-I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9AD32A-F19F-795D-B528-85596B7644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01575" y="7813087"/>
            <a:ext cx="2028825" cy="416513"/>
          </a:xfrm>
          <a:prstGeom prst="rect">
            <a:avLst/>
          </a:prstGeom>
        </p:spPr>
      </p:pic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2720D924-87C6-40BA-D339-4A34EF3293AB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"/>
          </a:blip>
          <a:stretch>
            <a:fillRect/>
          </a:stretch>
        </p:blipFill>
        <p:spPr>
          <a:xfrm>
            <a:off x="-1" y="0"/>
            <a:ext cx="7203647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2949" y="341065"/>
            <a:ext cx="5697855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400" b="1" dirty="0">
                <a:solidFill>
                  <a:srgbClr val="000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Organization Background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62471" y="806041"/>
            <a:ext cx="6689195" cy="1751963"/>
          </a:xfrm>
          <a:prstGeom prst="roundRect">
            <a:avLst>
              <a:gd name="adj" fmla="val 13058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06665" y="908768"/>
            <a:ext cx="667374" cy="610676"/>
          </a:xfrm>
          <a:prstGeom prst="roundRect">
            <a:avLst>
              <a:gd name="adj" fmla="val 14552264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14149" y="1046328"/>
            <a:ext cx="300236" cy="3002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094" y="1063990"/>
            <a:ext cx="2617391" cy="299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Business Profile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681562" y="1494371"/>
            <a:ext cx="6291468" cy="426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Name: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Vishwas Maurya Textile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Chhoti Koiran, Lohta, Varanasi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Owner Name: 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Vishal Maurya and Mr. Vishwas Maurya</a:t>
            </a:r>
          </a:p>
        </p:txBody>
      </p:sp>
      <p:sp>
        <p:nvSpPr>
          <p:cNvPr id="8" name="Shape 5"/>
          <p:cNvSpPr/>
          <p:nvPr/>
        </p:nvSpPr>
        <p:spPr>
          <a:xfrm>
            <a:off x="7347643" y="2726626"/>
            <a:ext cx="6689194" cy="1831388"/>
          </a:xfrm>
          <a:prstGeom prst="roundRect">
            <a:avLst>
              <a:gd name="adj" fmla="val 13058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698972" y="2846118"/>
            <a:ext cx="732890" cy="674859"/>
          </a:xfrm>
          <a:prstGeom prst="roundRect">
            <a:avLst>
              <a:gd name="adj" fmla="val 14552264"/>
            </a:avLst>
          </a:prstGeom>
          <a:solidFill>
            <a:srgbClr val="018CE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5432" y="3065443"/>
            <a:ext cx="560130" cy="28265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52480" y="2989428"/>
            <a:ext cx="4883093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Nature of Business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7698971" y="3584215"/>
            <a:ext cx="6337865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Primarily focus on B2B markets segment.</a:t>
            </a:r>
            <a:endParaRPr lang="en-US" dirty="0">
              <a:solidFill>
                <a:srgbClr val="00002E"/>
              </a:solidFill>
              <a:latin typeface="Times New Roman" panose="02020603050405020304" pitchFamily="18" charset="0"/>
              <a:ea typeface="PT Sans" pitchFamily="34" charset="-122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Powerloom sector with focus on Aara and Lachha designs saree.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7347643" y="4714819"/>
            <a:ext cx="6683414" cy="1883269"/>
          </a:xfrm>
          <a:prstGeom prst="roundRect">
            <a:avLst>
              <a:gd name="adj" fmla="val 13058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7681562" y="4861409"/>
            <a:ext cx="750300" cy="698072"/>
          </a:xfrm>
          <a:prstGeom prst="roundRect">
            <a:avLst>
              <a:gd name="adj" fmla="val 14552264"/>
            </a:avLst>
          </a:prstGeom>
          <a:solidFill>
            <a:srgbClr val="DA33B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65895" y="4987850"/>
            <a:ext cx="490479" cy="49047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11191" y="5017171"/>
            <a:ext cx="5471854" cy="223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Scale of Operations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7698971" y="5543557"/>
            <a:ext cx="5920207" cy="960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Small-scale manufacturing.</a:t>
            </a:r>
          </a:p>
          <a:p>
            <a:pPr marL="285750" indent="-28575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Employed 4 waiver worker during Operation.</a:t>
            </a:r>
          </a:p>
          <a:p>
            <a:pPr marL="285750" indent="-28575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out of 6 Powerloom machines operate during Operation.</a:t>
            </a:r>
          </a:p>
        </p:txBody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D474B7AE-E4BC-CECC-2D07-771F7EC00CC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10000"/>
          </a:blip>
          <a:stretch>
            <a:fillRect/>
          </a:stretch>
        </p:blipFill>
        <p:spPr>
          <a:xfrm flipH="1">
            <a:off x="2177263" y="-993573"/>
            <a:ext cx="8975295" cy="915557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9443B33-8E62-68BE-EE36-47297372AB5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554" r="10211"/>
          <a:stretch>
            <a:fillRect/>
          </a:stretch>
        </p:blipFill>
        <p:spPr>
          <a:xfrm>
            <a:off x="374036" y="4571983"/>
            <a:ext cx="3287547" cy="262385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8A1EF3F-C8A7-9165-F4A2-4AB3FC11F9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5489" y="1492857"/>
            <a:ext cx="5199225" cy="283712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25E7414-B5A3-80EC-BBBC-9FECC97703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92832" y="4577234"/>
            <a:ext cx="3275169" cy="26186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8602401-10E8-FFC9-38F2-B05D71F7EF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82133" y="7750260"/>
            <a:ext cx="2448267" cy="5430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2380" y="428207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400" b="1" dirty="0">
                <a:solidFill>
                  <a:srgbClr val="000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Problem Statement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42380" y="1327766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Addressing critical operational gaps in cost visibility and demand planning:-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37724" y="2138344"/>
            <a:ext cx="6372701" cy="1859637"/>
          </a:xfrm>
          <a:prstGeom prst="roundRect">
            <a:avLst>
              <a:gd name="adj" fmla="val 5901"/>
            </a:avLst>
          </a:prstGeom>
          <a:solidFill>
            <a:srgbClr val="F3F3FF">
              <a:alpha val="75000"/>
            </a:srgbClr>
          </a:solidFill>
          <a:ln/>
        </p:spPr>
        <p:txBody>
          <a:bodyPr/>
          <a:lstStyle/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37724" y="2115484"/>
            <a:ext cx="6372701" cy="91440"/>
          </a:xfrm>
          <a:prstGeom prst="roundRect">
            <a:avLst>
              <a:gd name="adj" fmla="val 343600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709928" y="1824257"/>
            <a:ext cx="628293" cy="628293"/>
          </a:xfrm>
          <a:prstGeom prst="roundRect">
            <a:avLst>
              <a:gd name="adj" fmla="val 145537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929836" y="1920166"/>
            <a:ext cx="439817" cy="366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1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70015" y="2661981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0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Unclear Profitability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70015" y="3095607"/>
            <a:ext cx="5908119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Heebo Light" pitchFamily="34" charset="-122"/>
                <a:cs typeface="Times New Roman" panose="02020603050405020304" pitchFamily="18" charset="0"/>
              </a:rPr>
              <a:t>Unable to determine cost per saree design or identify which products generate profit versus losses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419856" y="2138344"/>
            <a:ext cx="6372820" cy="1859637"/>
          </a:xfrm>
          <a:prstGeom prst="roundRect">
            <a:avLst>
              <a:gd name="adj" fmla="val 5901"/>
            </a:avLst>
          </a:prstGeom>
          <a:solidFill>
            <a:srgbClr val="F3F3FF">
              <a:alpha val="75000"/>
            </a:srgbClr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419856" y="2115484"/>
            <a:ext cx="6372820" cy="91440"/>
          </a:xfrm>
          <a:prstGeom prst="roundRect">
            <a:avLst>
              <a:gd name="adj" fmla="val 343600"/>
            </a:avLst>
          </a:prstGeom>
          <a:solidFill>
            <a:srgbClr val="018CE1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292060" y="1824257"/>
            <a:ext cx="628293" cy="628293"/>
          </a:xfrm>
          <a:prstGeom prst="roundRect">
            <a:avLst>
              <a:gd name="adj" fmla="val 145537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519056" y="1928913"/>
            <a:ext cx="251341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2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52147" y="2661981"/>
            <a:ext cx="2604373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0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Break-Even Awareness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52147" y="3095607"/>
            <a:ext cx="5908238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No knowledge of minimum sales required for financial sustainability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37724" y="4521499"/>
            <a:ext cx="6372701" cy="1859637"/>
          </a:xfrm>
          <a:prstGeom prst="roundRect">
            <a:avLst>
              <a:gd name="adj" fmla="val 5901"/>
            </a:avLst>
          </a:prstGeom>
          <a:solidFill>
            <a:srgbClr val="F3F3FF">
              <a:alpha val="75000"/>
            </a:srgbClr>
          </a:solidFill>
          <a:ln/>
        </p:spPr>
        <p:txBody>
          <a:bodyPr/>
          <a:lstStyle/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37724" y="4498639"/>
            <a:ext cx="6372701" cy="91440"/>
          </a:xfrm>
          <a:prstGeom prst="roundRect">
            <a:avLst>
              <a:gd name="adj" fmla="val 343600"/>
            </a:avLst>
          </a:prstGeom>
          <a:solidFill>
            <a:srgbClr val="DA33BF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709928" y="4207412"/>
            <a:ext cx="628293" cy="628293"/>
          </a:xfrm>
          <a:prstGeom prst="roundRect">
            <a:avLst>
              <a:gd name="adj" fmla="val 145537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898404" y="4364456"/>
            <a:ext cx="251341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70015" y="5045136"/>
            <a:ext cx="249721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0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Sales Forecasting Gap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70015" y="5478762"/>
            <a:ext cx="5908119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Absence of data-driven demand prediction for production planning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419856" y="4521499"/>
            <a:ext cx="6372820" cy="1859637"/>
          </a:xfrm>
          <a:prstGeom prst="roundRect">
            <a:avLst>
              <a:gd name="adj" fmla="val 5901"/>
            </a:avLst>
          </a:prstGeom>
          <a:solidFill>
            <a:srgbClr val="F3F3FF">
              <a:alpha val="75000"/>
            </a:srgbClr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419856" y="4498639"/>
            <a:ext cx="6372820" cy="91440"/>
          </a:xfrm>
          <a:prstGeom prst="roundRect">
            <a:avLst>
              <a:gd name="adj" fmla="val 343600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292060" y="4207412"/>
            <a:ext cx="628293" cy="628293"/>
          </a:xfrm>
          <a:prstGeom prst="roundRect">
            <a:avLst>
              <a:gd name="adj" fmla="val 145537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480536" y="4364456"/>
            <a:ext cx="251341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652147" y="5045136"/>
            <a:ext cx="274867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0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Material Planning Issues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652147" y="5478762"/>
            <a:ext cx="5908238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Poor raw material inventory management causing production bottlenecks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3F44074E-241E-DFD3-7637-ABB8A39E3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3028" y="7652494"/>
            <a:ext cx="2667372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2847975" y="-1200150"/>
            <a:ext cx="8934450" cy="106299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81" y="277551"/>
            <a:ext cx="7052310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000" b="1" dirty="0">
                <a:solidFill>
                  <a:srgbClr val="000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Data Collection, Preprocessing &amp; Methodology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65598" y="1094436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000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Primary Data Sources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828426" y="1512575"/>
            <a:ext cx="3817147" cy="2875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Handwritten record from April–October 2025.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Data (50 entries) &amp; Purchase Data (28 entries).</a:t>
            </a:r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Electricity Bills.</a:t>
            </a:r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Owner-provided material consumption ratios.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23E4C81A-0EA8-A987-EAA2-9BB48D9D6F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55141" y="984747"/>
            <a:ext cx="566976" cy="566976"/>
          </a:xfrm>
          <a:prstGeom prst="rect">
            <a:avLst/>
          </a:prstGeom>
        </p:spPr>
      </p:pic>
      <p:pic>
        <p:nvPicPr>
          <p:cNvPr id="16" name="Graphic 15" descr="Venn diagram with solid fill">
            <a:extLst>
              <a:ext uri="{FF2B5EF4-FFF2-40B4-BE49-F238E27FC236}">
                <a16:creationId xmlns:a16="http://schemas.microsoft.com/office/drawing/2014/main" id="{433E39A0-62B7-7278-DBC8-D35CC6327E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59595" y="833284"/>
            <a:ext cx="692707" cy="69270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F78F419-B02E-3D12-3815-696EBACBC2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70079" y="7675561"/>
            <a:ext cx="2667372" cy="52394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F0C6E5F-E3DF-9A81-E340-194427DF1FB3}"/>
              </a:ext>
            </a:extLst>
          </p:cNvPr>
          <p:cNvSpPr txBox="1"/>
          <p:nvPr/>
        </p:nvSpPr>
        <p:spPr>
          <a:xfrm>
            <a:off x="10235669" y="898879"/>
            <a:ext cx="36654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BB1CE6-15BE-8FB7-C0AF-A0FF344EE4CC}"/>
              </a:ext>
            </a:extLst>
          </p:cNvPr>
          <p:cNvSpPr txBox="1"/>
          <p:nvPr/>
        </p:nvSpPr>
        <p:spPr>
          <a:xfrm>
            <a:off x="10128340" y="1404513"/>
            <a:ext cx="381714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data entry into Excel sheet : name, Value, date, etc.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in sheet: remove duplicates, fix dates, standardize Column names, fill missing fields.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transformation: add month column, Weekly aggregation,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quantities, and monetary values were standardized.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8157986-B2C1-551F-1216-A0182937A78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6455"/>
          <a:stretch>
            <a:fillRect/>
          </a:stretch>
        </p:blipFill>
        <p:spPr>
          <a:xfrm>
            <a:off x="684913" y="1094436"/>
            <a:ext cx="3847782" cy="304022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5C514A9-FCC0-BA88-8A6D-6F9BDBCF33F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314" t="3846" r="11373" b="6821"/>
          <a:stretch>
            <a:fillRect/>
          </a:stretch>
        </p:blipFill>
        <p:spPr>
          <a:xfrm rot="10800000">
            <a:off x="481292" y="4506372"/>
            <a:ext cx="4478483" cy="2994781"/>
          </a:xfrm>
          <a:prstGeom prst="rect">
            <a:avLst/>
          </a:prstGeom>
        </p:spPr>
      </p:pic>
      <p:sp>
        <p:nvSpPr>
          <p:cNvPr id="29" name="Text 5"/>
          <p:cNvSpPr/>
          <p:nvPr/>
        </p:nvSpPr>
        <p:spPr>
          <a:xfrm>
            <a:off x="5765598" y="4897036"/>
            <a:ext cx="2899529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000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Methodological Approach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6"/>
          <p:cNvSpPr/>
          <p:nvPr/>
        </p:nvSpPr>
        <p:spPr>
          <a:xfrm>
            <a:off x="5936974" y="5361491"/>
            <a:ext cx="3478768" cy="2303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Limiting material production estimation.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Cost accounting principles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Break-even analysis.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Time series decomposition (STL).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ARIMA forecasting models.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Image 1" descr="preencoded.png">
            <a:extLst>
              <a:ext uri="{FF2B5EF4-FFF2-40B4-BE49-F238E27FC236}">
                <a16:creationId xmlns:a16="http://schemas.microsoft.com/office/drawing/2014/main" id="{0232D18E-517C-B142-5A86-84DFD7486C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05948" y="4731642"/>
            <a:ext cx="560627" cy="560627"/>
          </a:xfrm>
          <a:prstGeom prst="rect">
            <a:avLst/>
          </a:prstGeom>
        </p:spPr>
      </p:pic>
      <p:sp>
        <p:nvSpPr>
          <p:cNvPr id="32" name="Text 3">
            <a:extLst>
              <a:ext uri="{FF2B5EF4-FFF2-40B4-BE49-F238E27FC236}">
                <a16:creationId xmlns:a16="http://schemas.microsoft.com/office/drawing/2014/main" id="{2C1969F4-FF77-E857-EEF1-32B73EA1C294}"/>
              </a:ext>
            </a:extLst>
          </p:cNvPr>
          <p:cNvSpPr/>
          <p:nvPr/>
        </p:nvSpPr>
        <p:spPr>
          <a:xfrm>
            <a:off x="10520861" y="48347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Tools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12EE13FE-2602-DB03-781D-70175E8E2258}"/>
              </a:ext>
            </a:extLst>
          </p:cNvPr>
          <p:cNvSpPr/>
          <p:nvPr/>
        </p:nvSpPr>
        <p:spPr>
          <a:xfrm>
            <a:off x="10520861" y="5325209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Heebo Light" pitchFamily="34" charset="-122"/>
                <a:cs typeface="Times New Roman" panose="02020603050405020304" pitchFamily="18" charset="0"/>
              </a:rPr>
              <a:t>Microsoft Excel for cost allocation and Profitability  analysis.</a:t>
            </a:r>
          </a:p>
          <a:p>
            <a:pPr marL="342900" indent="-34290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Heebo Light" pitchFamily="34" charset="-122"/>
                <a:cs typeface="Times New Roman" panose="02020603050405020304" pitchFamily="18" charset="0"/>
              </a:rPr>
              <a:t>ARIMA modelling using Python for forecasting.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0D815697-3419-B305-C2BF-2E69F82691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05758" y="4732184"/>
            <a:ext cx="566976" cy="5669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7684" y="280035"/>
            <a:ext cx="7281862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850"/>
              </a:lnSpc>
            </a:pPr>
            <a:r>
              <a:rPr lang="en-I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FINDING 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777980" y="164344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00"/>
              </a:lnSpc>
            </a:pPr>
            <a:r>
              <a:rPr lang="en-US" sz="2000" b="1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69%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Lachha Share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938173" y="1993220"/>
            <a:ext cx="414373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b="1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Dominant volume with 262 sarees sold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15366" y="2665330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00"/>
              </a:lnSpc>
            </a:pPr>
            <a:r>
              <a:rPr lang="en-US" sz="2000" b="1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31%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Aara Share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875559" y="3015106"/>
            <a:ext cx="414373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b="1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Lower volume but higher margin product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48825" y="-1521857"/>
            <a:ext cx="4143851" cy="69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805212" y="995785"/>
            <a:ext cx="2688049" cy="433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00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985537" y="1356837"/>
            <a:ext cx="4143851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562124" y="5323403"/>
            <a:ext cx="2561749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0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Cost Structure Insights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524316" y="5840849"/>
            <a:ext cx="6221968" cy="1626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Aara: ₹517–₹538 per unit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Lachha: ₹431–₹455 per unit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Material costs dominate total </a:t>
            </a:r>
          </a:p>
          <a:p>
            <a:pPr algn="l">
              <a:lnSpc>
                <a:spcPts val="2600"/>
              </a:lnSpc>
              <a:buSzPct val="100000"/>
            </a:pPr>
            <a:r>
              <a:rPr lang="en-US" sz="20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      expenses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98656" y="167723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Material Constraint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58039" y="2109907"/>
            <a:ext cx="4638510" cy="1583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Taani identified as limiting factor.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554 </a:t>
            </a:r>
            <a:r>
              <a:rPr lang="en-US" sz="200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Total Units, </a:t>
            </a:r>
            <a:r>
              <a:rPr lang="en-US" sz="20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Combined production  capacity as Taani during Period.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Capacity underutilization observed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D0C9A25-8A50-37D0-599F-FF434993D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052" y="4429015"/>
            <a:ext cx="5145967" cy="31417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B35097A-9F8D-E82C-CB32-AA34FE2B5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2610" y="1212598"/>
            <a:ext cx="4563112" cy="28674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12F2C03-017A-E488-2A33-8CE578F8B1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311" y="4429015"/>
            <a:ext cx="5145967" cy="314176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4A36D66-B9B0-969B-7A8E-B1DF65BCD7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63028" y="7705652"/>
            <a:ext cx="2667372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9990" y="407316"/>
            <a:ext cx="6180177" cy="567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400" b="1" dirty="0">
                <a:solidFill>
                  <a:srgbClr val="000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Profitability Analysis Findings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813474" y="1092199"/>
            <a:ext cx="4176346" cy="1158478"/>
          </a:xfrm>
          <a:prstGeom prst="roundRect">
            <a:avLst>
              <a:gd name="adj" fmla="val 25002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411641" y="1359220"/>
            <a:ext cx="2385179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Aara Sarees: Profitable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37960" y="1765223"/>
            <a:ext cx="3258860" cy="296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r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Consistent positive margins of  15–21%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32838" y="2440957"/>
            <a:ext cx="4176346" cy="1158478"/>
          </a:xfrm>
          <a:prstGeom prst="rect">
            <a:avLst/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5838" y="2680264"/>
            <a:ext cx="2935605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Lachha Sarees: Loss-Making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5839" y="3071027"/>
            <a:ext cx="3319820" cy="296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Negative contribution of ₹75 per unit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86122" y="4492424"/>
            <a:ext cx="5168529" cy="1158478"/>
          </a:xfrm>
          <a:prstGeom prst="roundRect">
            <a:avLst>
              <a:gd name="adj" fmla="val 25002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99298" y="4707789"/>
            <a:ext cx="4001300" cy="37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Break-Even Point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285895" y="5106568"/>
            <a:ext cx="4001300" cy="251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ctr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Aara: 26 units/month | Lachha: Not achievable</a:t>
            </a:r>
          </a:p>
          <a:p>
            <a:pPr marL="285750" indent="-285750" algn="ctr">
              <a:lnSpc>
                <a:spcPts val="23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C53EE49-74AC-7B93-ED16-419B9DDAD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125" y="973914"/>
            <a:ext cx="4330693" cy="262552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D631064-3386-C1E0-BF11-5C2B26369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582" y="1192506"/>
            <a:ext cx="4433417" cy="244497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7E6AAFF-90DA-951B-5B68-4979956A3C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8012" y="4492424"/>
            <a:ext cx="4410108" cy="262552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236960F-1512-09DD-EAA9-779204535E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974" y="4492424"/>
            <a:ext cx="4433417" cy="265558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20E0884-D2ED-4BCE-48A9-5F4D288AD7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25475" y="7653136"/>
            <a:ext cx="2667372" cy="523948"/>
          </a:xfrm>
          <a:prstGeom prst="rect">
            <a:avLst/>
          </a:prstGeom>
        </p:spPr>
      </p:pic>
      <p:sp>
        <p:nvSpPr>
          <p:cNvPr id="34" name="Shape 5">
            <a:extLst>
              <a:ext uri="{FF2B5EF4-FFF2-40B4-BE49-F238E27FC236}">
                <a16:creationId xmlns:a16="http://schemas.microsoft.com/office/drawing/2014/main" id="{135C19D2-0CBF-A204-33C7-24D9203A6C1F}"/>
              </a:ext>
            </a:extLst>
          </p:cNvPr>
          <p:cNvSpPr/>
          <p:nvPr/>
        </p:nvSpPr>
        <p:spPr>
          <a:xfrm>
            <a:off x="4839943" y="6128789"/>
            <a:ext cx="5114708" cy="1327087"/>
          </a:xfrm>
          <a:prstGeom prst="rect">
            <a:avLst/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5" name="Text 11"/>
          <p:cNvSpPr/>
          <p:nvPr/>
        </p:nvSpPr>
        <p:spPr>
          <a:xfrm>
            <a:off x="6332637" y="6217788"/>
            <a:ext cx="2271593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Key Financial Insight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5086945" y="6533222"/>
            <a:ext cx="4762975" cy="101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Volume-driven strategy increases total losses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Current Lachha pricing insufficient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Minimum required: ₹441 per unit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0423" y="359637"/>
            <a:ext cx="7218640" cy="596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4000" b="1" dirty="0">
                <a:solidFill>
                  <a:srgbClr val="000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ARIMA Forecasting on Design Saree 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62DC77F-E263-F68E-58BF-C8A20CEE3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0284" y="1487447"/>
            <a:ext cx="4509870" cy="2996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A3E85FC-D9DB-4D8F-F62C-09CD77A51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8547" y="1522451"/>
            <a:ext cx="4236720" cy="299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1">
            <a:extLst>
              <a:ext uri="{FF2B5EF4-FFF2-40B4-BE49-F238E27FC236}">
                <a16:creationId xmlns:a16="http://schemas.microsoft.com/office/drawing/2014/main" id="{0CB29C14-2DF7-C259-5CF5-8B704C64D4BD}"/>
              </a:ext>
            </a:extLst>
          </p:cNvPr>
          <p:cNvSpPr/>
          <p:nvPr/>
        </p:nvSpPr>
        <p:spPr>
          <a:xfrm>
            <a:off x="381964" y="1133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Aara Design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F833AA95-E030-5284-58D4-ACF76A2B0488}"/>
              </a:ext>
            </a:extLst>
          </p:cNvPr>
          <p:cNvSpPr/>
          <p:nvPr/>
        </p:nvSpPr>
        <p:spPr>
          <a:xfrm>
            <a:off x="715804" y="1681639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C474C354-90F0-22E9-05D8-94DA6BB0103B}"/>
              </a:ext>
            </a:extLst>
          </p:cNvPr>
          <p:cNvSpPr/>
          <p:nvPr/>
        </p:nvSpPr>
        <p:spPr>
          <a:xfrm>
            <a:off x="715804" y="2180630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129E547-53AC-1485-150C-1A2C288EAB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70472" y="7705652"/>
            <a:ext cx="2667372" cy="523948"/>
          </a:xfrm>
          <a:prstGeom prst="rect">
            <a:avLst/>
          </a:prstGeom>
        </p:spPr>
      </p:pic>
      <p:sp>
        <p:nvSpPr>
          <p:cNvPr id="22" name="Text 4">
            <a:extLst>
              <a:ext uri="{FF2B5EF4-FFF2-40B4-BE49-F238E27FC236}">
                <a16:creationId xmlns:a16="http://schemas.microsoft.com/office/drawing/2014/main" id="{C827908D-B02B-44D7-3736-C29893F444FA}"/>
              </a:ext>
            </a:extLst>
          </p:cNvPr>
          <p:cNvSpPr/>
          <p:nvPr/>
        </p:nvSpPr>
        <p:spPr>
          <a:xfrm>
            <a:off x="715804" y="2679621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79181604-442D-18E7-AD29-81D56766F34F}"/>
              </a:ext>
            </a:extLst>
          </p:cNvPr>
          <p:cNvSpPr/>
          <p:nvPr/>
        </p:nvSpPr>
        <p:spPr>
          <a:xfrm>
            <a:off x="381964" y="1522451"/>
            <a:ext cx="4977113" cy="249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Trend: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rise from ~3 to ~5 sarees/day → steady demand growth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Seasonality: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Minor fluctuations (–2.5 to +3) → no strong repeating pattern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ARIMA(1,0,2) with lowest AIC (145.42)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is Reliable: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autocorrelation (p = 0.71), residuals are normally distributed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Forecast: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Demand settles around 3–4 sarees → steady, predictable sales</a:t>
            </a:r>
          </a:p>
          <a:p>
            <a:pPr marL="342900" indent="-342900">
              <a:lnSpc>
                <a:spcPts val="2500"/>
              </a:lnSpc>
              <a:buSzPct val="100000"/>
              <a:buFontTx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500"/>
              </a:lnSpc>
              <a:buSzPct val="100000"/>
              <a:buFontTx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2500"/>
              </a:lnSpc>
              <a:buSzPct val="100000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8002C4E-0388-147D-8945-05514E295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0284" y="4837390"/>
            <a:ext cx="4509870" cy="2996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97C9190-DBAE-4C71-5A51-530AA29FE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5081" y="4815005"/>
            <a:ext cx="4240186" cy="2996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80E6C2A4-E01B-43B8-C05A-17A300EA9353}"/>
              </a:ext>
            </a:extLst>
          </p:cNvPr>
          <p:cNvSpPr/>
          <p:nvPr/>
        </p:nvSpPr>
        <p:spPr>
          <a:xfrm>
            <a:off x="381964" y="4986834"/>
            <a:ext cx="5068319" cy="284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Declining then Recovering Trend: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drop from ~12–15 to ~3–4, then rise to ~8 → mid-period slowdown with recovery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Volatility: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vary widely (2 to 20 units) → more unstable demand than Aara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Seasonality: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Fluctuations between –3 to +3 → weak but present short-term cycles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ARIMA(2,0,1) with AIC = 148.01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but Imperfect Model: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autocorrelation (p = 0.97), but non-normal residuals &amp; volatility present → captures pattern but not extreme spikes</a:t>
            </a:r>
          </a:p>
          <a:p>
            <a:pPr marL="285750" indent="-285750">
              <a:lnSpc>
                <a:spcPts val="2500"/>
              </a:lnSpc>
              <a:buSzPct val="100000"/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500"/>
              </a:lnSpc>
              <a:buSzPct val="100000"/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500"/>
              </a:lnSpc>
              <a:buSzPct val="100000"/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500"/>
              </a:lnSpc>
              <a:buSzPct val="100000"/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D6400851-7E7C-5170-CE3F-4EDF34C64B0A}"/>
              </a:ext>
            </a:extLst>
          </p:cNvPr>
          <p:cNvSpPr/>
          <p:nvPr/>
        </p:nvSpPr>
        <p:spPr>
          <a:xfrm>
            <a:off x="381964" y="4573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Lachha Buti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5777D-A4AC-62FA-196D-58BE52265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9DA16C9-999A-FB29-32B0-9B7D0917E246}"/>
              </a:ext>
            </a:extLst>
          </p:cNvPr>
          <p:cNvSpPr/>
          <p:nvPr/>
        </p:nvSpPr>
        <p:spPr>
          <a:xfrm>
            <a:off x="484311" y="79620"/>
            <a:ext cx="7218640" cy="596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4000" b="1" dirty="0">
                <a:solidFill>
                  <a:srgbClr val="000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ARIMA Forecasting on Saree Shades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0FDB97A8-3995-B478-27BF-AAE487700B70}"/>
              </a:ext>
            </a:extLst>
          </p:cNvPr>
          <p:cNvSpPr/>
          <p:nvPr/>
        </p:nvSpPr>
        <p:spPr>
          <a:xfrm>
            <a:off x="912574" y="8234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Light Shades Saree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CAD753DB-1D20-5F50-C5F9-76245AAF9CB0}"/>
              </a:ext>
            </a:extLst>
          </p:cNvPr>
          <p:cNvSpPr/>
          <p:nvPr/>
        </p:nvSpPr>
        <p:spPr>
          <a:xfrm>
            <a:off x="715804" y="1681639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007333FC-EEC2-1434-8924-350B53025764}"/>
              </a:ext>
            </a:extLst>
          </p:cNvPr>
          <p:cNvSpPr/>
          <p:nvPr/>
        </p:nvSpPr>
        <p:spPr>
          <a:xfrm>
            <a:off x="715804" y="2180630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3DCC07D1-A082-C0C3-DFFC-C1B65A2B5753}"/>
              </a:ext>
            </a:extLst>
          </p:cNvPr>
          <p:cNvSpPr/>
          <p:nvPr/>
        </p:nvSpPr>
        <p:spPr>
          <a:xfrm>
            <a:off x="715804" y="2679621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ACC5EE56-4F68-A7BE-7DCE-B68A7AD082E8}"/>
              </a:ext>
            </a:extLst>
          </p:cNvPr>
          <p:cNvSpPr/>
          <p:nvPr/>
        </p:nvSpPr>
        <p:spPr>
          <a:xfrm>
            <a:off x="397844" y="1233104"/>
            <a:ext cx="5480844" cy="315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Weekly Seasonality Detected: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STL shows consistent fluctuations of around ±5–6 units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Series is Stationary: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ADF Test confirms stationarity (p &lt; 0.05)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Model Fit: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Residual diagnostics show no autocorrelation and stable variance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Validation: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Ljung-Box test confirms residual independence, ensuring no remaining temporal structure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Note: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Non-normal residuals (Jarque-Bera) indicate presence of outliers, but model remains reliable for mean forecasting.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500"/>
              </a:lnSpc>
              <a:buSzPct val="100000"/>
              <a:buFontTx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2500"/>
              </a:lnSpc>
              <a:buSzPct val="100000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B0E95B22-15D2-B541-12BD-0DADAD3BE77A}"/>
              </a:ext>
            </a:extLst>
          </p:cNvPr>
          <p:cNvSpPr/>
          <p:nvPr/>
        </p:nvSpPr>
        <p:spPr>
          <a:xfrm>
            <a:off x="348166" y="4904398"/>
            <a:ext cx="5480844" cy="3569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Seasonality Observed: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STL shows small fluctuations (≈ –1 to +2 units), indicating low cyclic pattern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Series is Stationary: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ADF Test confirms stronger stationarity compared to light shades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Volatility: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Residuals show random spikes with low overall demand levels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Validation: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passes Ljung-Box test, confirming adequacy despite low signal strength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Note: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Lower signal-to-noise ratio reduces predictive power, making forecasts more directional than precise</a:t>
            </a: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00897DA2-8C5C-0D08-6671-748B318309B2}"/>
              </a:ext>
            </a:extLst>
          </p:cNvPr>
          <p:cNvSpPr/>
          <p:nvPr/>
        </p:nvSpPr>
        <p:spPr>
          <a:xfrm>
            <a:off x="912573" y="44483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Dark Shades Saree</a:t>
            </a:r>
          </a:p>
          <a:p>
            <a:pPr marL="0" indent="0" algn="l">
              <a:lnSpc>
                <a:spcPts val="2750"/>
              </a:lnSpc>
              <a:buNone/>
            </a:pP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642722D-D5C6-6FC1-F606-3D7D817D8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956" y="1324801"/>
            <a:ext cx="4381200" cy="3072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D69C38-41A3-304F-6463-CDA75306B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1045" y="7603413"/>
            <a:ext cx="2667372" cy="523948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8F7CE15-AC29-43D3-6675-21002C962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5078" y="1301448"/>
            <a:ext cx="4093661" cy="3119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1657EA52-CAD5-33BA-A4C4-E309739A2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688" y="4727234"/>
            <a:ext cx="4381200" cy="3072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08BE0B15-2BCC-424E-13FE-0225A01E5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9566" y="4746139"/>
            <a:ext cx="4139173" cy="3119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4087" y="688063"/>
            <a:ext cx="523637" cy="523637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3162" y="4390064"/>
            <a:ext cx="523637" cy="52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200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1649" y="506741"/>
            <a:ext cx="6106478" cy="596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4400" b="1" dirty="0">
                <a:solidFill>
                  <a:srgbClr val="000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Strategic Recommendations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1649" y="1597343"/>
            <a:ext cx="405765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00002E"/>
                </a:solidFill>
                <a:latin typeface="Times New Roman" panose="02020603050405020304" pitchFamily="18" charset="0"/>
                <a:ea typeface="Nunito Light" pitchFamily="34" charset="-122"/>
                <a:cs typeface="Times New Roman" panose="02020603050405020304" pitchFamily="18" charset="0"/>
              </a:rPr>
              <a:t>01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1649" y="1919288"/>
            <a:ext cx="6405324" cy="22860"/>
          </a:xfrm>
          <a:prstGeom prst="rect">
            <a:avLst/>
          </a:prstGeom>
          <a:solidFill>
            <a:srgbClr val="2D4DF2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1649" y="2066449"/>
            <a:ext cx="2387203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000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Revise Lachha Pricing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1649" y="2482691"/>
            <a:ext cx="6405324" cy="668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Implement minimum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₹441</a:t>
            </a:r>
            <a:r>
              <a:rPr lang="en-US" sz="20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 per unit to achieve break-even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>
              <a:lnSpc>
                <a:spcPts val="25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increase price aligns with observed cost structure.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13427" y="1597343"/>
            <a:ext cx="405765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00002E"/>
                </a:solidFill>
                <a:latin typeface="Times New Roman" panose="02020603050405020304" pitchFamily="18" charset="0"/>
                <a:ea typeface="Nunito Light" pitchFamily="34" charset="-122"/>
                <a:cs typeface="Times New Roman" panose="02020603050405020304" pitchFamily="18" charset="0"/>
              </a:rPr>
              <a:t>02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13427" y="1919288"/>
            <a:ext cx="6405324" cy="22860"/>
          </a:xfrm>
          <a:prstGeom prst="rect">
            <a:avLst/>
          </a:prstGeom>
          <a:solidFill>
            <a:srgbClr val="018C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413427" y="2066449"/>
            <a:ext cx="2428756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2400" b="1" dirty="0">
                <a:solidFill>
                  <a:srgbClr val="000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Monthly Cost Tracking</a:t>
            </a:r>
          </a:p>
        </p:txBody>
      </p:sp>
      <p:sp>
        <p:nvSpPr>
          <p:cNvPr id="10" name="Text 8"/>
          <p:cNvSpPr/>
          <p:nvPr/>
        </p:nvSpPr>
        <p:spPr>
          <a:xfrm>
            <a:off x="7413427" y="2482691"/>
            <a:ext cx="6405324" cy="596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Standardized Excel-based cost sheet for margin visibility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11649" y="3256258"/>
            <a:ext cx="405765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00002E"/>
                </a:solidFill>
                <a:latin typeface="Times New Roman" panose="02020603050405020304" pitchFamily="18" charset="0"/>
                <a:ea typeface="Nunito Light" pitchFamily="34" charset="-122"/>
                <a:cs typeface="Times New Roman" panose="02020603050405020304" pitchFamily="18" charset="0"/>
              </a:rPr>
              <a:t>03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1649" y="3624886"/>
            <a:ext cx="6405324" cy="22860"/>
          </a:xfrm>
          <a:prstGeom prst="rect">
            <a:avLst/>
          </a:prstGeom>
          <a:solidFill>
            <a:srgbClr val="DA33BF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1649" y="3725364"/>
            <a:ext cx="2700099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000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Taani Inventory Planning</a:t>
            </a:r>
          </a:p>
        </p:txBody>
      </p:sp>
      <p:sp>
        <p:nvSpPr>
          <p:cNvPr id="14" name="Text 12"/>
          <p:cNvSpPr/>
          <p:nvPr/>
        </p:nvSpPr>
        <p:spPr>
          <a:xfrm>
            <a:off x="811649" y="4141607"/>
            <a:ext cx="6405324" cy="898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monthly minimum Taani requirement based on average 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consumption and proportion with other materials.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13427" y="3256258"/>
            <a:ext cx="405765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00002E"/>
                </a:solidFill>
                <a:latin typeface="Times New Roman" panose="02020603050405020304" pitchFamily="18" charset="0"/>
                <a:ea typeface="Nunito Light" pitchFamily="34" charset="-122"/>
                <a:cs typeface="Times New Roman" panose="02020603050405020304" pitchFamily="18" charset="0"/>
              </a:rPr>
              <a:t>04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13427" y="3578203"/>
            <a:ext cx="6405324" cy="22860"/>
          </a:xfrm>
          <a:prstGeom prst="rect">
            <a:avLst/>
          </a:prstGeom>
          <a:solidFill>
            <a:srgbClr val="2D4D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13427" y="3725364"/>
            <a:ext cx="3046333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000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Colour Strategy Adjustment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13427" y="4141607"/>
            <a:ext cx="6405324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to keep light shade inventory at around 9-11 units per week.</a:t>
            </a:r>
            <a:endParaRPr lang="en-US" sz="2000" dirty="0">
              <a:solidFill>
                <a:srgbClr val="00002E"/>
              </a:solidFill>
              <a:latin typeface="Times New Roman" panose="02020603050405020304" pitchFamily="18" charset="0"/>
              <a:ea typeface="PT Sans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500"/>
              </a:lnSpc>
            </a:pPr>
            <a:r>
              <a:rPr lang="en-US" sz="20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Promote dark shades during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winter event &amp; occasions.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11649" y="4903450"/>
            <a:ext cx="405765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00002E"/>
                </a:solidFill>
                <a:latin typeface="Times New Roman" panose="02020603050405020304" pitchFamily="18" charset="0"/>
                <a:ea typeface="Nunito Light" pitchFamily="34" charset="-122"/>
                <a:cs typeface="Times New Roman" panose="02020603050405020304" pitchFamily="18" charset="0"/>
              </a:rPr>
              <a:t>05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1649" y="5225395"/>
            <a:ext cx="6405324" cy="22860"/>
          </a:xfrm>
          <a:prstGeom prst="rect">
            <a:avLst/>
          </a:prstGeom>
          <a:solidFill>
            <a:srgbClr val="018CE1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11649" y="5372557"/>
            <a:ext cx="2387203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000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Dealer Classification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11649" y="5788799"/>
            <a:ext cx="6405324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Stable vs. volatile demand dealer prioritization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413427" y="4903450"/>
            <a:ext cx="405765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00002E"/>
                </a:solidFill>
                <a:latin typeface="Times New Roman" panose="02020603050405020304" pitchFamily="18" charset="0"/>
                <a:ea typeface="Nunito Light" pitchFamily="34" charset="-122"/>
                <a:cs typeface="Times New Roman" panose="02020603050405020304" pitchFamily="18" charset="0"/>
              </a:rPr>
              <a:t>06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413427" y="5225395"/>
            <a:ext cx="6405324" cy="22860"/>
          </a:xfrm>
          <a:prstGeom prst="rect">
            <a:avLst/>
          </a:prstGeom>
          <a:solidFill>
            <a:srgbClr val="DA33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413427" y="5372557"/>
            <a:ext cx="2985492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000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Highway Shop Opportunity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413427" y="5788799"/>
            <a:ext cx="6405324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Heebo Light" pitchFamily="34" charset="-122"/>
                <a:cs typeface="Times New Roman" panose="02020603050405020304" pitchFamily="18" charset="0"/>
              </a:rPr>
              <a:t>Open retail shop to d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irect sales to increase profit margin 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F0BF99-E69E-3710-7F24-EAC6A4FB4093}"/>
              </a:ext>
            </a:extLst>
          </p:cNvPr>
          <p:cNvSpPr txBox="1"/>
          <p:nvPr/>
        </p:nvSpPr>
        <p:spPr>
          <a:xfrm>
            <a:off x="3756071" y="1937344"/>
            <a:ext cx="1460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(Urgent)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FDE7A1-2738-2B60-B5C0-E3CD3FD9DE69}"/>
              </a:ext>
            </a:extLst>
          </p:cNvPr>
          <p:cNvSpPr txBox="1"/>
          <p:nvPr/>
        </p:nvSpPr>
        <p:spPr>
          <a:xfrm>
            <a:off x="10934981" y="5236825"/>
            <a:ext cx="2233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b="1" dirty="0">
                <a:solidFill>
                  <a:srgbClr val="000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Long-Term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408B6F-E782-1501-BB08-6F29210C9667}"/>
              </a:ext>
            </a:extLst>
          </p:cNvPr>
          <p:cNvSpPr txBox="1"/>
          <p:nvPr/>
        </p:nvSpPr>
        <p:spPr>
          <a:xfrm>
            <a:off x="4190387" y="3624886"/>
            <a:ext cx="194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(Short-Term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362F04-D4A1-1A8A-D677-5B5F8A6E022E}"/>
              </a:ext>
            </a:extLst>
          </p:cNvPr>
          <p:cNvSpPr txBox="1"/>
          <p:nvPr/>
        </p:nvSpPr>
        <p:spPr>
          <a:xfrm>
            <a:off x="3460333" y="5248255"/>
            <a:ext cx="27574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Medium-Term)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5F049F-7F2E-6F64-22C4-40B4B33E7532}"/>
              </a:ext>
            </a:extLst>
          </p:cNvPr>
          <p:cNvSpPr txBox="1"/>
          <p:nvPr/>
        </p:nvSpPr>
        <p:spPr>
          <a:xfrm>
            <a:off x="10443559" y="1948936"/>
            <a:ext cx="1992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b="1" dirty="0">
                <a:solidFill>
                  <a:srgbClr val="000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Short-Term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692C80-2E44-E49F-280A-89E05B55735C}"/>
              </a:ext>
            </a:extLst>
          </p:cNvPr>
          <p:cNvSpPr txBox="1"/>
          <p:nvPr/>
        </p:nvSpPr>
        <p:spPr>
          <a:xfrm>
            <a:off x="11142564" y="3601063"/>
            <a:ext cx="2432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b="1" dirty="0">
                <a:solidFill>
                  <a:srgbClr val="000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Medium-Term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598D395-0C30-2F4F-BE96-43EC1FD43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4956" y="7579874"/>
            <a:ext cx="2667372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170985" y="1055076"/>
            <a:ext cx="4079631" cy="61194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D1AA47-7E38-B9DC-3485-7A8C2BF0C0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3028" y="7603023"/>
            <a:ext cx="2667372" cy="5239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2308D2-C8D8-A146-346D-BA0FE777ECB1}"/>
              </a:ext>
            </a:extLst>
          </p:cNvPr>
          <p:cNvSpPr txBox="1"/>
          <p:nvPr/>
        </p:nvSpPr>
        <p:spPr>
          <a:xfrm>
            <a:off x="3317630" y="3423139"/>
            <a:ext cx="79951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1299</TotalTime>
  <Words>943</Words>
  <Application>Microsoft Office PowerPoint</Application>
  <PresentationFormat>Custom</PresentationFormat>
  <Paragraphs>146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Times New Roman</vt:lpstr>
      <vt:lpstr>Nunito Semi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Himanshu gupta</dc:creator>
  <cp:lastModifiedBy>Himanshu gupta</cp:lastModifiedBy>
  <cp:revision>4</cp:revision>
  <dcterms:created xsi:type="dcterms:W3CDTF">2026-04-18T06:08:03Z</dcterms:created>
  <dcterms:modified xsi:type="dcterms:W3CDTF">2026-05-05T12:05:30Z</dcterms:modified>
</cp:coreProperties>
</file>